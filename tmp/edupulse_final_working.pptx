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A87E59-1AAC-4551-8BC7-218CC8191D63}">
  <a:tblStyle styleId="{F1A87E59-1AAC-4551-8BC7-218CC8191D6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ctrTitle"/>
          </p:nvPr>
        </p:nvSpPr>
        <p:spPr>
          <a:xfrm>
            <a:off x="1836032" y="1236704"/>
            <a:ext cx="9144000" cy="1007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mbria"/>
              <a:buNone/>
            </a:pP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Academic Year 2026-2027</a:t>
            </a:r>
            <a:br>
              <a:rPr b="1" lang="en-US" sz="1800"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S7 PROJECT WORK I</a:t>
            </a:r>
            <a:br>
              <a:rPr b="1" lang="en-US" sz="18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b="1" lang="en-US" sz="1800">
                <a:latin typeface="Cambria"/>
                <a:ea typeface="Cambria"/>
                <a:cs typeface="Cambria"/>
                <a:sym typeface="Cambria"/>
              </a:rPr>
              <a:t> Review </a:t>
            </a:r>
            <a:endParaRPr b="1" sz="18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p13"/>
          <p:cNvSpPr txBox="1"/>
          <p:nvPr>
            <p:ph idx="1" type="subTitle"/>
          </p:nvPr>
        </p:nvSpPr>
        <p:spPr>
          <a:xfrm>
            <a:off x="1836032" y="2204425"/>
            <a:ext cx="9144000" cy="127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400"/>
              <a:buNone/>
            </a:pPr>
            <a:r>
              <a:rPr b="1" lang="en-US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PROJECT TITLE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b="1" lang="en-US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EDUPULSE AI: A COURSE-OUTCOME-LEVEL FRAMEWORK FOR EARLY ACADEMIC RISK DETECTION AND TARGETED INTERVENTION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44435" y="0"/>
            <a:ext cx="7675419" cy="1308626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180109" y="5153889"/>
            <a:ext cx="5226781" cy="14131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BATCH MEMBERS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LOGITHKUMAR K R (7376231CD124)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RAMESH S (7376231CD141)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i="0" sz="1800" u="none" cap="none" strike="noStrike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6957943" y="5106781"/>
            <a:ext cx="5032800" cy="14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385623"/>
                </a:solidFill>
                <a:latin typeface="Cambria"/>
                <a:ea typeface="Cambria"/>
                <a:cs typeface="Cambria"/>
                <a:sym typeface="Cambria"/>
              </a:rPr>
              <a:t>GUIDE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Dr. M. Karthiga</a:t>
            </a:r>
            <a:endParaRPr b="1" sz="180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ASSOCIATE PROFESSOR</a:t>
            </a:r>
            <a:endParaRPr b="1" sz="1800">
              <a:solidFill>
                <a:srgbClr val="7030A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7030A0"/>
                </a:solidFill>
                <a:latin typeface="Cambria"/>
                <a:ea typeface="Cambria"/>
                <a:cs typeface="Cambria"/>
                <a:sym typeface="Cambria"/>
              </a:rPr>
              <a:t>DEPARTMENT OF COMPUTER SCIENCE AND ENGINEERING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None/>
            </a:pPr>
            <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  <a:t>BANNARI AMMAN INSTITUTE OF TECHNOLOGY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446298" y="3994171"/>
            <a:ext cx="293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PROJECT AREA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EDUCATIONAL DATA MINING</a:t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6405510" y="3970524"/>
            <a:ext cx="61377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DEPARTMENT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COMPUTER SCIENCE AND DESIGN</a:t>
            </a:r>
            <a:endParaRPr b="1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838200" y="240435"/>
            <a:ext cx="10515600" cy="270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b="1" lang="en-US" sz="36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b="1" sz="36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>
            <a:off x="4246421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REVIEW PRESENTATION</a:t>
            </a:r>
            <a:endParaRPr sz="18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rgbClr val="0070C0"/>
                </a:solidFill>
              </a:rPr>
              <a:t>‹#›</a:t>
            </a:fld>
            <a:endParaRPr sz="1800">
              <a:solidFill>
                <a:srgbClr val="0070C0"/>
              </a:solidFill>
            </a:endParaRPr>
          </a:p>
        </p:txBody>
      </p:sp>
      <p:graphicFrame>
        <p:nvGraphicFramePr>
          <p:cNvPr id="102" name="Google Shape;102;p14"/>
          <p:cNvGraphicFramePr/>
          <p:nvPr/>
        </p:nvGraphicFramePr>
        <p:xfrm>
          <a:off x="838200" y="6473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{F1A87E59-1AAC-4551-8BC7-218CC8191D63}</a:tableStyleId>
              </a:tblPr>
              <a:tblGrid>
                <a:gridCol w="795425"/>
                <a:gridCol w="4667675"/>
                <a:gridCol w="2731550"/>
                <a:gridCol w="2544800"/>
              </a:tblGrid>
              <a:tr h="169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Sl. No.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Reference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Methods / techniques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Relevance to EduPulse AI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1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[2] Baker &amp; Yacef (2009), “The state of EDM in 2009,” Journal of Educational Data Mining, 1(1), 3-17.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Review of educational data-mining methods and institutional records.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Historical analysis describes outcomes; internal assessment can support intervention during the semester.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[3] Romero &amp; Ventura (2013), “Data mining in education,” WIREs DMKD, 3(1), 12-27.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Survey of education data-mining methods for student performance.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Internal tests and lab scores can reveal difficulty before final exams.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3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[4] Livieris et al. (2019), “Predicting students’ performance using an ensemble of neural networks and decision trees,” Knowledge and Information Systems, 61(1), 133-158.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Neural-network and decision-tree ensemble for performance prediction.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Supports ensemble methods for nonlinear academic patterns; the study is an offline experiment.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type="title"/>
          </p:nvPr>
        </p:nvSpPr>
        <p:spPr>
          <a:xfrm>
            <a:off x="838200" y="240435"/>
            <a:ext cx="10515600" cy="270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ct val="100000"/>
              <a:buFont typeface="Cambria"/>
              <a:buNone/>
            </a:pPr>
            <a:r>
              <a:rPr b="1" lang="en-US" sz="36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LITERATURE SURVEY </a:t>
            </a:r>
            <a:endParaRPr b="1" sz="36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8" name="Google Shape;108;p15"/>
          <p:cNvSpPr txBox="1"/>
          <p:nvPr>
            <p:ph idx="11" type="ftr"/>
          </p:nvPr>
        </p:nvSpPr>
        <p:spPr>
          <a:xfrm>
            <a:off x="4246421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SECOND</a:t>
            </a:r>
            <a:r>
              <a:rPr lang="en-US" sz="18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 REVIEW PRESENTATION</a:t>
            </a:r>
            <a:endParaRPr sz="18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9" name="Google Shape;10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rgbClr val="0070C0"/>
                </a:solidFill>
              </a:rPr>
              <a:t>‹#›</a:t>
            </a:fld>
            <a:endParaRPr sz="1800">
              <a:solidFill>
                <a:srgbClr val="0070C0"/>
              </a:solidFill>
            </a:endParaRPr>
          </a:p>
        </p:txBody>
      </p:sp>
      <p:graphicFrame>
        <p:nvGraphicFramePr>
          <p:cNvPr id="110" name="Google Shape;110;p15"/>
          <p:cNvGraphicFramePr/>
          <p:nvPr/>
        </p:nvGraphicFramePr>
        <p:xfrm>
          <a:off x="838200" y="6473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{F1A87E59-1AAC-4551-8BC7-218CC8191D63}</a:tableStyleId>
              </a:tblPr>
              <a:tblGrid>
                <a:gridCol w="779575"/>
                <a:gridCol w="4478225"/>
                <a:gridCol w="2628900"/>
                <a:gridCol w="2628900"/>
              </a:tblGrid>
              <a:tr h="169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Sl. No.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Reference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Methods / techniques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Relevance to EduPulse AI</a:t>
                      </a:r>
                      <a:endParaRPr b="1" sz="1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4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[5] Chen &amp; Guestrin (2016), “XGBoost: A scalable tree boosting system,” Proc. ACM SIGKDD, pp. 785-794.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Regularized gradient boosting for tabular classification with probability output.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Supports probability-based Safe, Medium Risk and High Risk bands.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5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[6] Affolter et al. (2019); [7] Brown et al. (2020), database language interfaces and few-shot language models.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Survey of natural-language database interfaces; few-shot LLM results.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Motivates structured query plans checked against actual dataset columns.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625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6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[8] Munzner (2014), Visualization Analysis and Design, CRC Press.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Task-based principles for choosing and evaluating visualizations.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lang="en-US" sz="16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Use interactive charts with clear labels and an export path for reports.</a:t>
                      </a:r>
                      <a:endParaRPr sz="16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838200" y="983673"/>
            <a:ext cx="10515600" cy="519329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b="0" i="0"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 and validate an Academic Intelligence Platform that consolidates multi-department results, predicts failure risk from internal marks, and supports natural-language analytics through an interactive dashboard.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Automated data ingestion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Parse results from 20 departments and normalize internal marks recorded out of 40, 50 and 60.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Early risk prediction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Use average and lowest internal percentages plus the number of courses below 50% in XGBoost.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Conversational analytics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Answer routine questions locally; use Groq with key rotation and model fallback for other queries.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Interactive dashboard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Present results with React, Vite and Recharts; export charts and data as PNG, SVG and CSV.</a:t>
            </a:r>
            <a:endParaRPr/>
          </a:p>
        </p:txBody>
      </p:sp>
      <p:sp>
        <p:nvSpPr>
          <p:cNvPr id="116" name="Google Shape;11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dk1"/>
                </a:solidFill>
              </a:rPr>
              <a:t>SECOND</a:t>
            </a:r>
            <a:r>
              <a:rPr lang="en-US" sz="1800">
                <a:solidFill>
                  <a:schemeClr val="dk1"/>
                </a:solidFill>
              </a:rPr>
              <a:t> REVIEW PRESENTATION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8" name="Google Shape;118;p16"/>
          <p:cNvSpPr txBox="1"/>
          <p:nvPr>
            <p:ph type="title"/>
          </p:nvPr>
        </p:nvSpPr>
        <p:spPr>
          <a:xfrm>
            <a:off x="838200" y="240434"/>
            <a:ext cx="10515600" cy="576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AIM &amp; OBJECTIVES OF THE PROJECT</a:t>
            </a:r>
            <a:b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(Problem Statement)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IN SCOPE</a:t>
            </a:r>
            <a:endParaRPr/>
          </a:p>
          <a:p>
            <a:pPr indent="0" lvl="2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  <a:p>
            <a:pPr indent="-345678" lvl="0" marL="457200" rtl="0"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Academic data: Parse result workbooks from 20 departments; normalize internal marks out of 40, 50 and 60 and map grades.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Risk prediction: Use XGBoost features for average, lowest and below-50% course marks; assign Safe (&lt;30%), Medium (30-64.9%) and High (65-100%) bands.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Conversational analytics: Route routine queries locally; use Groq with API-key rotation and model fallback for other questions.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r>
              <a:rPr b="1" i="0" lang="en-US" sz="295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Dashboard: Show department, student, risk and AI analytics; export charts and data as PNG, SVG and CSV.</a:t>
            </a: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endParaRPr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4567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mbria"/>
              <a:buChar char="❏"/>
            </a:pPr>
            <a:endParaRPr b="0" i="0" sz="295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sz="2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>
                <a:solidFill>
                  <a:schemeClr val="dk1"/>
                </a:solidFill>
              </a:rPr>
              <a:t>SECOND</a:t>
            </a:r>
            <a:r>
              <a:rPr lang="en-US" sz="1800">
                <a:solidFill>
                  <a:schemeClr val="dk1"/>
                </a:solidFill>
              </a:rPr>
              <a:t> REVIEW PRESENTATION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SCOPE OF THE PROJECT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TECHNICAL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Python 3.12/FastAPI, XGBoost and React/Vite/Recharts provide an open-source, cross-platform stack.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ECONOMIC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No software licensing cost; the platform used standard campus hardware and less than 180 MB of memory.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OPERATIONAL FEASIBILITY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61 workbooks and 7,293 records loaded in 2.8 s; single-student inference averaged 11.4 ms.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FUNCTIONAL VALIDATION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All nine test cases passed; a 281-student batch ran in 1.18 s and simulated API failover recovered in 220 ms.</a:t>
            </a:r>
            <a:endParaRPr sz="2000"/>
          </a:p>
        </p:txBody>
      </p:sp>
      <p:sp>
        <p:nvSpPr>
          <p:cNvPr id="132" name="Google Shape;13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33" name="Google Shape;13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FEASIBILITY ANALYSIS 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40" name="Google Shape;14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4087" y="355025"/>
            <a:ext cx="9743823" cy="582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20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PROJECT METHODOLOGY (Data-to-dashboard workflow)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57200" y="1234440"/>
            <a:ext cx="301752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Workflow item</a:t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347472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Find</a:t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425195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Parse</a:t>
            </a:r>
            <a:endParaRPr/>
          </a:p>
        </p:txBody>
      </p:sp>
      <p:sp>
        <p:nvSpPr>
          <p:cNvPr id="152" name="Google Shape;152;p20"/>
          <p:cNvSpPr/>
          <p:nvPr/>
        </p:nvSpPr>
        <p:spPr>
          <a:xfrm>
            <a:off x="502920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Normalize</a:t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580644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Grade map</a:t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658367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Aggregate</a:t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736092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Features</a:t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8138159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Predict</a:t>
            </a:r>
            <a:endParaRPr/>
          </a:p>
        </p:txBody>
      </p:sp>
      <p:sp>
        <p:nvSpPr>
          <p:cNvPr id="157" name="Google Shape;157;p20"/>
          <p:cNvSpPr/>
          <p:nvPr/>
        </p:nvSpPr>
        <p:spPr>
          <a:xfrm>
            <a:off x="891540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Route AI</a:t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969264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Validate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10469880" y="1234440"/>
            <a:ext cx="777240" cy="365760"/>
          </a:xfrm>
          <a:prstGeom prst="rect">
            <a:avLst/>
          </a:prstGeom>
          <a:solidFill>
            <a:srgbClr val="1F3864"/>
          </a:solidFill>
          <a:ln cap="flat" cmpd="sng" w="12700">
            <a:solidFill>
              <a:srgbClr val="1F3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Charts/export</a:t>
            </a:r>
            <a:endParaRPr/>
          </a:p>
        </p:txBody>
      </p:sp>
      <p:sp>
        <p:nvSpPr>
          <p:cNvPr id="160" name="Google Shape;160;p20"/>
          <p:cNvSpPr/>
          <p:nvPr/>
        </p:nvSpPr>
        <p:spPr>
          <a:xfrm>
            <a:off x="457200" y="16002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Department workbooks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3474720" y="1600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425195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502920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580644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658367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736092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8138159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891540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0"/>
          <p:cNvSpPr/>
          <p:nvPr/>
        </p:nvSpPr>
        <p:spPr>
          <a:xfrm>
            <a:off x="969264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10469880" y="1600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457200" y="20574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Headers and result fields</a:t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3474720" y="2057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251959" y="2057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502920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580644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583679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36092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138159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891540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969264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10469880" y="2057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57200" y="25146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Internal marks and grades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347472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251959" y="2514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029200" y="2514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80644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6583679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736092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8138159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891540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969264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10469880" y="2514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57200" y="29718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Unified student repository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347472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4251959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5029200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806440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6583679" y="29718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736092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8138159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891540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969264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10469880" y="29718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457200" y="34290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Risk feature vector</a:t>
            </a: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347472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251959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502920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580644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6583679" y="34290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7360920" y="34290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8138159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891540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969264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10469880" y="34290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457200" y="38862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Failure probability and risk band</a:t>
            </a:r>
            <a:endParaRPr/>
          </a:p>
        </p:txBody>
      </p:sp>
      <p:sp>
        <p:nvSpPr>
          <p:cNvPr id="216" name="Google Shape;216;p20"/>
          <p:cNvSpPr/>
          <p:nvPr/>
        </p:nvSpPr>
        <p:spPr>
          <a:xfrm>
            <a:off x="347472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4251959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02920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580644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583679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7360920" y="3886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8138159" y="38862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891540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969264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10469880" y="38862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457200" y="4343400"/>
            <a:ext cx="3017520" cy="457200"/>
          </a:xfrm>
          <a:prstGeom prst="rect">
            <a:avLst/>
          </a:prstGeom>
          <a:solidFill>
            <a:srgbClr val="F2F2F2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Natural-language analytics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347472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4251959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02920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80644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6583679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736092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8138159" y="4343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8915400" y="43434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69264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10469880" y="43434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457200" y="4800600"/>
            <a:ext cx="301752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25" lIns="36575" spcFirstLastPara="1" rIns="36575" wrap="square" tIns="91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Charts and exported files</a:t>
            </a:r>
            <a:endParaRPr/>
          </a:p>
        </p:txBody>
      </p:sp>
      <p:sp>
        <p:nvSpPr>
          <p:cNvPr id="238" name="Google Shape;238;p20"/>
          <p:cNvSpPr/>
          <p:nvPr/>
        </p:nvSpPr>
        <p:spPr>
          <a:xfrm>
            <a:off x="347472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425195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502920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0"/>
          <p:cNvSpPr/>
          <p:nvPr/>
        </p:nvSpPr>
        <p:spPr>
          <a:xfrm>
            <a:off x="580644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58367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7360920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0"/>
          <p:cNvSpPr/>
          <p:nvPr/>
        </p:nvSpPr>
        <p:spPr>
          <a:xfrm>
            <a:off x="8138159" y="4800600"/>
            <a:ext cx="77724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0"/>
          <p:cNvSpPr/>
          <p:nvPr/>
        </p:nvSpPr>
        <p:spPr>
          <a:xfrm>
            <a:off x="891540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969264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10469880" y="4800600"/>
            <a:ext cx="777240" cy="457200"/>
          </a:xfrm>
          <a:prstGeom prst="rect">
            <a:avLst/>
          </a:prstGeom>
          <a:solidFill>
            <a:srgbClr val="3F7A55"/>
          </a:solidFill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1"/>
          <p:cNvSpPr txBox="1"/>
          <p:nvPr>
            <p:ph idx="1" type="body"/>
          </p:nvPr>
        </p:nvSpPr>
        <p:spPr>
          <a:xfrm>
            <a:off x="838199" y="795193"/>
            <a:ext cx="10674900" cy="5444700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/>
          </a:p>
          <a:p>
            <a:pPr indent="-3556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Python 3.12 + FastAPI + Uvicorn - REST backend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pandas + OpenPyXL - spreadsheet ingestion and analytics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XGBoost 2.0+ + scikit-learn + Joblib - risk model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Groq Python SDK - conversational query planning and failover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React 19 + Vite 8 + Recharts - interactive dashboard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html2canvas + FileSaver - PNG, SVG and CSV exports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CORE MODULES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Academic record aggregator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XGBoost risk prediction engine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Conversational query and failover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r>
              <a:rPr b="1" lang="en-US" sz="2000">
                <a:latin typeface="Cambria"/>
                <a:ea typeface="Cambria"/>
                <a:cs typeface="Cambria"/>
                <a:sym typeface="Cambria"/>
              </a:rPr>
              <a:t>Analytics dashboard and export</a:t>
            </a: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mbria"/>
              <a:buChar char="❖"/>
            </a:pPr>
            <a:endParaRPr b="1" sz="20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None/>
            </a:pP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53" name="Google Shape;25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54" name="Google Shape;25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5" name="Google Shape;255;p21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TECHNOLOGY STACK AND CORE MODULES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2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PLATFORM ARCHITECTURE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React 19 and Vite 8 communicate with the backend through REST endpoints.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Presentation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React dashboard: department overview, risk hub, student directory and AI query studio.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Application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Python 3.12/FastAPI services: data ingestion, XGBoost risk, AI query planning and audit logging.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800000"/>
                </a:solidFill>
                <a:latin typeface="Cambria"/>
                <a:ea typeface="Cambria"/>
                <a:cs typeface="Cambria"/>
                <a:sym typeface="Cambria"/>
              </a:rPr>
              <a:t>Data and Cloud AI Layer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b="0" i="0" lang="en-US" sz="2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•  Local workbooks, model artifacts and query logs connect to Groq LLMs with key rotation and model fallback.</a:t>
            </a:r>
            <a:endParaRPr/>
          </a:p>
        </p:txBody>
      </p:sp>
      <p:sp>
        <p:nvSpPr>
          <p:cNvPr id="261" name="Google Shape;26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62" name="Google Shape;26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3" name="Google Shape;263;p22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2F5496"/>
                </a:solidFill>
                <a:latin typeface="Cambria"/>
                <a:ea typeface="Cambria"/>
                <a:cs typeface="Cambria"/>
                <a:sym typeface="Cambria"/>
              </a:rPr>
              <a:t>SOFTWARE ARCHITECTURE</a:t>
            </a:r>
            <a:endParaRPr b="1" sz="2400">
              <a:solidFill>
                <a:srgbClr val="2F5496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LOGITHKUMAR K R (7376231CD124) - Frontend, visualization and ingestion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Led the React application, including routing, state management and reusable components.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Designed Recharts components for bar, stacked, line, area, pie, radar and scatter charts.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Implemented PNG, SVG and CSV export and accessible chart color palettes.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Collaborated on workbook traversal and dynamic header detection.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70" name="Google Shape;27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23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RAMESH S (7376231CD141) - Risk engine, conversational AI and backend</a:t>
            </a:r>
            <a:endParaRPr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Formulated, trained and deployed the XGBoost failure-risk model.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Normalized 40, 50 and 60-point internal marks; generated risk probabilities and faculty recommendations.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Built local query routing, the Groq planner, key rotation and model fallback.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/>
              <a:t>Developed FastAPI routes and audit logging; completed integration and performance testing.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77" name="Google Shape;2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78" name="Google Shape;2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24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INDIVIDUAL CONTRIBUTIONS TO THE WORK 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"/>
          <p:cNvSpPr txBox="1"/>
          <p:nvPr>
            <p:ph idx="1" type="body"/>
          </p:nvPr>
        </p:nvSpPr>
        <p:spPr>
          <a:xfrm>
            <a:off x="838199" y="775855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</a:pPr>
            <a:r>
              <a:rPr b="1" lang="en-US">
                <a:solidFill>
                  <a:srgbClr val="C00000"/>
                </a:solidFill>
              </a:rPr>
              <a:t>KEY RESULTS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61 workbooks across 20 departments: 7,293 records loaded in 2.8 s; memory below 180 MB.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Single-student inference averaged 11.4 ms; a 281-student cohort ran in 1.18 s.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Cohort risk bands: 173 Safe, 22 Medium Risk and 86 High Risk.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Dashboard: 90.06% overall pass rate, 838 students at risk and average SGPA 7.74.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Routine queries used 0 Groq tokens; simulated HTTP 429 failover succeeded in 220 ms.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endParaRPr/>
              <a:t>All nine functional tests passed; PNG, SVG and CSV exports succeeded.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endParaRPr/>
              <a:t>Limitation: held-out model metrics were not reported, and the 30%/65% risk thresholds remain unvalidated.</a:t>
            </a:r>
            <a:endParaRPr/>
          </a:p>
        </p:txBody>
      </p:sp>
      <p:sp>
        <p:nvSpPr>
          <p:cNvPr id="285" name="Google Shape;285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86" name="Google Shape;286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7" name="Google Shape;287;p25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RESULTS AND FUNCTIONAL VALIDATION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6"/>
          <p:cNvSpPr txBox="1"/>
          <p:nvPr>
            <p:ph idx="1" type="body"/>
          </p:nvPr>
        </p:nvSpPr>
        <p:spPr>
          <a:xfrm>
            <a:off x="838200" y="911514"/>
            <a:ext cx="10674927" cy="5444836"/>
          </a:xfrm>
          <a:prstGeom prst="rect">
            <a:avLst/>
          </a:prstGeom>
          <a:noFill/>
          <a:ln cap="flat" cmpd="sng" w="952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ct val="155556"/>
              <a:buNone/>
            </a:pPr>
            <a:r>
              <a:rPr b="1"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IEEE-style references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[1] National Board of Accreditation, Manual for Accreditation of Undergraduate Engineering Programmes, New Delhi, 2022.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[2] R. S. Baker and K. Yacef, “The state of educational data mining in 2009: A review and future visions,” J. Educational Data Mining, vol. 1, no. 1, pp. 3-17, 2009.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[3] C. Romero and S. Ventura, “Data mining in education,” Wiley Interdisciplinary Reviews: Data Mining and Knowledge Discovery, vol. 3, no. 1, pp. 12-27, 2013.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[4] I. E. Livieris, K. Drakopoulou, and P. Pintelas, “Predicting students’ performance using an ensemble of neural networks and decision trees,” Knowledge and Information Systems, vol. 61, no. 1, pp. 133-158, 2019.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[5] T. Chen and C. Guestrin, “XGBoost: A scalable tree boosting system,” in Proc. 22nd ACM SIGKDD, pp. 785-794, 2016.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[6] K. Affolter, K. Stockinger, and A. Bernstein, “A comparative survey of recent natural language interfaces for databases,” VLDB J., vol. 28, no. 5, pp. 793-819, 2019.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[7] T. Brown et al., “Language models are few-shot learners,” Advances in Neural Information Processing Systems, vol. 33, pp. 1877-1901, 2020.</a:t>
            </a:r>
            <a:endParaRPr sz="1800"/>
          </a:p>
          <a:p>
            <a:pPr indent="-334328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rPr lang="en-US" sz="14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[8] T. Munzner, Visualization Analysis and Design, CRC Press, 2014.</a:t>
            </a:r>
            <a:endParaRPr sz="1800"/>
          </a:p>
          <a:p>
            <a:pPr indent="0" lvl="0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3" name="Google Shape;293;p26"/>
          <p:cNvSpPr txBox="1"/>
          <p:nvPr>
            <p:ph idx="11" type="ftr"/>
          </p:nvPr>
        </p:nvSpPr>
        <p:spPr>
          <a:xfrm>
            <a:off x="4038600" y="650200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SECOND REVIEW PRESENTATION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sp>
        <p:nvSpPr>
          <p:cNvPr id="294" name="Google Shape;29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26"/>
          <p:cNvSpPr txBox="1"/>
          <p:nvPr>
            <p:ph type="title"/>
          </p:nvPr>
        </p:nvSpPr>
        <p:spPr>
          <a:xfrm>
            <a:off x="838200" y="240434"/>
            <a:ext cx="10515600" cy="438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REFERENCES</a:t>
            </a:r>
            <a:b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</a:br>
            <a:r>
              <a:rPr b="1" lang="en-US" sz="2400">
                <a:solidFill>
                  <a:srgbClr val="0070C0"/>
                </a:solidFill>
                <a:latin typeface="Cambria"/>
                <a:ea typeface="Cambria"/>
                <a:cs typeface="Cambria"/>
                <a:sym typeface="Cambria"/>
              </a:rPr>
              <a:t>(Selected studies and methods)</a:t>
            </a:r>
            <a:endParaRPr b="1" sz="2400">
              <a:solidFill>
                <a:srgbClr val="0070C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