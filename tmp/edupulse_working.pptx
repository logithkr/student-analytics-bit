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A87E59-1AAC-4551-8BC7-218CC8191D63}">
  <a:tblStyle styleId="{F1A87E59-1AAC-4551-8BC7-218CC8191D6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fill>
          <a:solidFill>
            <a:srgbClr val="D0DEEF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D0DEEF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0" name="Google Shape;25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8" name="Google Shape;25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4" name="Google Shape;27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2" name="Google Shape;28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0" name="Google Shape;29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ctrTitle"/>
          </p:nvPr>
        </p:nvSpPr>
        <p:spPr>
          <a:xfrm>
            <a:off x="1836032" y="1236704"/>
            <a:ext cx="9144000" cy="10073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</a:pPr>
            <a:r>
              <a:rPr b="1" lang="en-US" sz="1800">
                <a:latin typeface="Cambria"/>
                <a:ea typeface="Cambria"/>
                <a:cs typeface="Cambria"/>
                <a:sym typeface="Cambria"/>
              </a:rPr>
              <a:t>Academic Year 2026-2027</a:t>
            </a:r>
            <a:br>
              <a:rPr b="1" lang="en-US" sz="1800">
                <a:latin typeface="Cambria"/>
                <a:ea typeface="Cambria"/>
                <a:cs typeface="Cambria"/>
                <a:sym typeface="Cambria"/>
              </a:rPr>
            </a:br>
            <a:r>
              <a:rPr b="1" lang="en-US" sz="18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S7 PROJECT WORK I</a:t>
            </a:r>
            <a:br>
              <a:rPr b="1" lang="en-US" sz="18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1" lang="en-US" sz="1800">
                <a:latin typeface="Cambria"/>
                <a:ea typeface="Cambria"/>
                <a:cs typeface="Cambria"/>
                <a:sym typeface="Cambria"/>
              </a:rPr>
              <a:t>Second</a:t>
            </a:r>
            <a:r>
              <a:rPr b="1" lang="en-US" sz="1800">
                <a:latin typeface="Cambria"/>
                <a:ea typeface="Cambria"/>
                <a:cs typeface="Cambria"/>
                <a:sym typeface="Cambria"/>
              </a:rPr>
              <a:t> Review </a:t>
            </a:r>
            <a:endParaRPr b="1"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9" name="Google Shape;89;p13"/>
          <p:cNvSpPr txBox="1"/>
          <p:nvPr>
            <p:ph idx="1" type="subTitle"/>
          </p:nvPr>
        </p:nvSpPr>
        <p:spPr>
          <a:xfrm>
            <a:off x="1836032" y="2204425"/>
            <a:ext cx="9144000" cy="1276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2400"/>
              <a:buNone/>
            </a:pPr>
            <a:r>
              <a:rPr b="1" lang="en-US">
                <a:solidFill>
                  <a:srgbClr val="385623"/>
                </a:solidFill>
                <a:latin typeface="Cambria"/>
                <a:ea typeface="Cambria"/>
                <a:cs typeface="Cambria"/>
                <a:sym typeface="Cambria"/>
              </a:rPr>
              <a:t>PROJECT TITLE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b="1" lang="en-US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  <a:t>BIT Campus Maintenance Request Desk with Geotagged Issue Uploads and Technician Dispatch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>
              <a:solidFill>
                <a:srgbClr val="7030A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44435" y="0"/>
            <a:ext cx="7675419" cy="1308626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180109" y="5153889"/>
            <a:ext cx="5226781" cy="14131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2000"/>
              <a:buFont typeface="Arial"/>
              <a:buNone/>
            </a:pPr>
            <a:r>
              <a:rPr b="1" i="0" lang="en-US" sz="1800" u="none" cap="none" strike="noStrike">
                <a:solidFill>
                  <a:srgbClr val="385623"/>
                </a:solidFill>
                <a:latin typeface="Cambria"/>
                <a:ea typeface="Cambria"/>
                <a:cs typeface="Cambria"/>
                <a:sym typeface="Cambria"/>
              </a:rPr>
              <a:t>BATCH MEMBERS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7030A0"/>
                </a:solidFill>
                <a:latin typeface="Cambria"/>
                <a:ea typeface="Cambria"/>
                <a:cs typeface="Cambria"/>
                <a:sym typeface="Cambria"/>
              </a:rPr>
              <a:t>THAISEELAN C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7030A0"/>
                </a:solidFill>
                <a:latin typeface="Cambria"/>
                <a:ea typeface="Cambria"/>
                <a:cs typeface="Cambria"/>
                <a:sym typeface="Cambria"/>
              </a:rPr>
              <a:t>SUBHAHSCHANDRA 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7030A0"/>
                </a:solidFill>
                <a:latin typeface="Cambria"/>
                <a:ea typeface="Cambria"/>
                <a:cs typeface="Cambria"/>
                <a:sym typeface="Cambria"/>
              </a:rPr>
              <a:t>DHARANEENDHIRA A V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7030A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6957943" y="5106781"/>
            <a:ext cx="5032800" cy="14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2000"/>
              <a:buFont typeface="Arial"/>
              <a:buNone/>
            </a:pPr>
            <a:r>
              <a:rPr b="1" i="0" lang="en-US" sz="1800" u="none" cap="none" strike="noStrike">
                <a:solidFill>
                  <a:srgbClr val="385623"/>
                </a:solidFill>
                <a:latin typeface="Cambria"/>
                <a:ea typeface="Cambria"/>
                <a:cs typeface="Cambria"/>
                <a:sym typeface="Cambria"/>
              </a:rPr>
              <a:t>GUIDE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7030A0"/>
                </a:solidFill>
                <a:latin typeface="Cambria"/>
                <a:ea typeface="Cambria"/>
                <a:cs typeface="Cambria"/>
                <a:sym typeface="Cambria"/>
              </a:rPr>
              <a:t>GOKUL M S</a:t>
            </a:r>
            <a:endParaRPr b="1" sz="1800">
              <a:solidFill>
                <a:srgbClr val="7030A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7030A0"/>
                </a:solidFill>
                <a:latin typeface="Cambria"/>
                <a:ea typeface="Cambria"/>
                <a:cs typeface="Cambria"/>
                <a:sym typeface="Cambria"/>
              </a:rPr>
              <a:t>ASSISTANT PROFESSOR</a:t>
            </a:r>
            <a:endParaRPr b="1" sz="1800">
              <a:solidFill>
                <a:srgbClr val="7030A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7030A0"/>
                </a:solidFill>
                <a:latin typeface="Cambria"/>
                <a:ea typeface="Cambria"/>
                <a:cs typeface="Cambria"/>
                <a:sym typeface="Cambria"/>
              </a:rPr>
              <a:t>CS11197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1446298" y="3994171"/>
            <a:ext cx="2937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BIP PROJECT 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2026AC176</a:t>
            </a:r>
            <a:endParaRPr b="1" i="0" sz="1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6405510" y="3970524"/>
            <a:ext cx="6137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CATERGORY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INTERNAL </a:t>
            </a:r>
            <a:endParaRPr b="1" i="0" sz="1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>
            <p:ph type="title"/>
          </p:nvPr>
        </p:nvSpPr>
        <p:spPr>
          <a:xfrm>
            <a:off x="838200" y="240435"/>
            <a:ext cx="10515600" cy="2703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100000"/>
              <a:buFont typeface="Cambria"/>
              <a:buNone/>
            </a:pPr>
            <a:r>
              <a:rPr b="1" lang="en-US" sz="36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LITERATURE SURVEY </a:t>
            </a:r>
            <a:endParaRPr b="1" sz="3600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0" name="Google Shape;100;p14"/>
          <p:cNvSpPr txBox="1"/>
          <p:nvPr>
            <p:ph idx="11" type="ftr"/>
          </p:nvPr>
        </p:nvSpPr>
        <p:spPr>
          <a:xfrm>
            <a:off x="4246421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SECOND</a:t>
            </a:r>
            <a:r>
              <a:rPr lang="en-US" sz="18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 REVIEW PRESENTATION</a:t>
            </a:r>
            <a:endParaRPr sz="1800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1" name="Google Shape;101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>
                <a:solidFill>
                  <a:srgbClr val="0070C0"/>
                </a:solidFill>
              </a:rPr>
              <a:t>‹#›</a:t>
            </a:fld>
            <a:endParaRPr sz="1800">
              <a:solidFill>
                <a:srgbClr val="0070C0"/>
              </a:solidFill>
            </a:endParaRPr>
          </a:p>
        </p:txBody>
      </p:sp>
      <p:graphicFrame>
        <p:nvGraphicFramePr>
          <p:cNvPr id="102" name="Google Shape;102;p14"/>
          <p:cNvGraphicFramePr/>
          <p:nvPr/>
        </p:nvGraphicFramePr>
        <p:xfrm>
          <a:off x="838200" y="6473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{F1A87E59-1AAC-4551-8BC7-218CC8191D63}</a:tableStyleId>
              </a:tblPr>
              <a:tblGrid>
                <a:gridCol w="795425"/>
                <a:gridCol w="4667675"/>
                <a:gridCol w="2731550"/>
                <a:gridCol w="2544800"/>
              </a:tblGrid>
              <a:tr h="169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</a:rPr>
                        <a:t>Sl.No.</a:t>
                      </a:r>
                      <a:endParaRPr b="1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</a:rPr>
                        <a:t>Journal Paper Title with Author </a:t>
                      </a:r>
                      <a:endParaRPr b="1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</a:rPr>
                        <a:t>Works carried out 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</a:rPr>
                        <a:t>( with details of Methods/ Materials/ Software/ Algorithms / fabrication / techniques/ components used ) </a:t>
                      </a:r>
                      <a:endParaRPr b="1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</a:rPr>
                        <a:t>Information gathered relevant to your project</a:t>
                      </a:r>
                      <a:endParaRPr b="1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</a:tr>
              <a:tr h="625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K. Aravindhan, K. Periyakaruppan, K. Aswini, S. Vaishnavi, and L. Yamini, “Web Portal for Effective Student Grievance Support System,” in Proc. 2020 6th Int. Conf. Advanced Computing and Communication Systems (ICACCS), Mar. 2020.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Designed a web portal for students to log grievances and track their status through an admin panel.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Motivated the need for a centralized, trackable complaint submission portal instead of manual phone/verbal reporting.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</a:tr>
              <a:tr h="625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V. Oguntosin, M. Oluwadurotimi, A. Adoghe, A. Abdulkareem, and G. Adeyemi, “Development of a Web-Based Complaint Management Platform for a University Community,” J. Eng. Sci. Technol. Rev., vol. 14, no. 1, pp. 150–159, 2021.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Built and evaluated a web-based platform for university stakeholders to log and monitor facility complaints.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Confirmed core entities (complainant, category, status) and the value of status tracking for accountability.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</a:tr>
              <a:tr h="625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3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S. Jha and P. Sonawane, “Smart Student Grievance Redressal System with Foul Language Detection,” in Proc. 2022 8th Int. Conf. Advanced Computing and Communication Systems (ICACCS), 2022, pp. 187–192.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Extended a grievance system with automated content moderation before routing complaints to staff.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Reinforced a structured OPEN-to-CLOSED status workflow with defined complaint categories.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type="title"/>
          </p:nvPr>
        </p:nvSpPr>
        <p:spPr>
          <a:xfrm>
            <a:off x="838200" y="240435"/>
            <a:ext cx="10515600" cy="2703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100000"/>
              <a:buFont typeface="Cambria"/>
              <a:buNone/>
            </a:pPr>
            <a:r>
              <a:rPr b="1" lang="en-US" sz="36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LITERATURE SURVEY </a:t>
            </a:r>
            <a:endParaRPr b="1" sz="3600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8" name="Google Shape;108;p15"/>
          <p:cNvSpPr txBox="1"/>
          <p:nvPr>
            <p:ph idx="11" type="ftr"/>
          </p:nvPr>
        </p:nvSpPr>
        <p:spPr>
          <a:xfrm>
            <a:off x="4246421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SECOND</a:t>
            </a:r>
            <a:r>
              <a:rPr lang="en-US" sz="18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 REVIEW PRESENTATION</a:t>
            </a:r>
            <a:endParaRPr sz="1800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9" name="Google Shape;10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>
                <a:solidFill>
                  <a:srgbClr val="0070C0"/>
                </a:solidFill>
              </a:rPr>
              <a:t>‹#›</a:t>
            </a:fld>
            <a:endParaRPr sz="1800">
              <a:solidFill>
                <a:srgbClr val="0070C0"/>
              </a:solidFill>
            </a:endParaRPr>
          </a:p>
        </p:txBody>
      </p:sp>
      <p:graphicFrame>
        <p:nvGraphicFramePr>
          <p:cNvPr id="110" name="Google Shape;110;p15"/>
          <p:cNvGraphicFramePr/>
          <p:nvPr/>
        </p:nvGraphicFramePr>
        <p:xfrm>
          <a:off x="838200" y="6473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{F1A87E59-1AAC-4551-8BC7-218CC8191D63}</a:tableStyleId>
              </a:tblPr>
              <a:tblGrid>
                <a:gridCol w="779575"/>
                <a:gridCol w="4478225"/>
                <a:gridCol w="2628900"/>
                <a:gridCol w="2628900"/>
              </a:tblGrid>
              <a:tr h="169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</a:rPr>
                        <a:t>Sl.No.</a:t>
                      </a:r>
                      <a:endParaRPr b="1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</a:rPr>
                        <a:t>References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</a:rPr>
                        <a:t>( Journal Papers Only)</a:t>
                      </a:r>
                      <a:endParaRPr b="1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</a:rPr>
                        <a:t>Works carried out 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</a:rPr>
                        <a:t>( with details of Methods/ Materials/ Software/ Algorithms / fabrication / techniques/ components used ) </a:t>
                      </a:r>
                      <a:endParaRPr b="1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</a:rPr>
                        <a:t>Information gathered relevant to your project</a:t>
                      </a:r>
                      <a:endParaRPr b="1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</a:tr>
              <a:tr h="625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4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A. S. Manek, K. V. Shalini, K. Munot, T. Sri Harsha, B. Monika, and Shivalingayya, “Grievance Redressal System for Educational Institution,” Int. J. Electr. Electron. Comput., Special Issue NCASTEM-2025, pp. 45–49, Feb. 2026.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Implemented a role-based web grievance system for an educational institution with separate user/admin views.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Supported the role-separated dashboard design for Student/Staff, Technician and Admin.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</a:tr>
              <a:tr h="625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5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E. O. Boadu and G. K. Armah, “Role-Based Access Control (RBAC) Based in Hospital Management,” Int. Refereed J. Eng. Sci., vol. 3, no. 9, pp. 53–67, 2014.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Applied RBAC to restrict system functions by user role in a hospital management system.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Informed the STUDENT/STAFF/ADMIN/TECHNICIAN role separation enforced at the API level.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</a:tr>
              <a:tr h="625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6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N. Chagnon-Lessard et al., “Smart Campuses: Extensive Review of the Last Decade of Research and Current Challenges,” IEEE Access, vol. 9, pp. 124200–124234, 2021.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Reviewed a decade of smart-campus research across infrastructure, services and management systems.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Positioned facility-maintenance management as a recognized, valuable smart-campus service.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/>
          <p:nvPr>
            <p:ph idx="1" type="body"/>
          </p:nvPr>
        </p:nvSpPr>
        <p:spPr>
          <a:xfrm>
            <a:off x="838200" y="983673"/>
            <a:ext cx="10515600" cy="5193290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AIM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endParaRPr b="0" i="0" sz="20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To develop a centralized web-based campus maintenance management system that lets students and staff report issues, gives administrators centralized monitoring, automatically assigns suitable technicians, and keeps users informed until resolution.</a:t>
            </a:r>
            <a:endParaRPr b="1" sz="2400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OBJECTIVES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800000"/>
                </a:solidFill>
                <a:latin typeface="Cambria"/>
                <a:ea typeface="Cambria"/>
                <a:cs typeface="Cambria"/>
                <a:sym typeface="Cambria"/>
              </a:rPr>
              <a:t>Centralize complaint registration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•  Allow students/staff to submit complaints with category, description, location and photo evidence.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800000"/>
                </a:solidFill>
                <a:latin typeface="Cambria"/>
                <a:ea typeface="Cambria"/>
                <a:cs typeface="Cambria"/>
                <a:sym typeface="Cambria"/>
              </a:rPr>
              <a:t>Automate technician assignment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•  Match each complaint to an available technician by specialization using a rule-based algorithm.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800000"/>
                </a:solidFill>
                <a:latin typeface="Cambria"/>
                <a:ea typeface="Cambria"/>
                <a:cs typeface="Cambria"/>
                <a:sym typeface="Cambria"/>
              </a:rPr>
              <a:t>Provide full traceability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•  Maintain a status history for every complaint from submission to closure.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800000"/>
                </a:solidFill>
                <a:latin typeface="Cambria"/>
                <a:ea typeface="Cambria"/>
                <a:cs typeface="Cambria"/>
                <a:sym typeface="Cambria"/>
              </a:rPr>
              <a:t>Keep users informed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•  Send automatic email notifications at every stage of the complaint lifecycle.</a:t>
            </a:r>
            <a:endParaRPr/>
          </a:p>
        </p:txBody>
      </p:sp>
      <p:sp>
        <p:nvSpPr>
          <p:cNvPr id="116" name="Google Shape;11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>
                <a:solidFill>
                  <a:schemeClr val="dk1"/>
                </a:solidFill>
              </a:rPr>
              <a:t>SECOND</a:t>
            </a:r>
            <a:r>
              <a:rPr lang="en-US" sz="1800">
                <a:solidFill>
                  <a:schemeClr val="dk1"/>
                </a:solidFill>
              </a:rPr>
              <a:t> REVIEW PRESENTATION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17" name="Google Shape;11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18" name="Google Shape;118;p16"/>
          <p:cNvSpPr txBox="1"/>
          <p:nvPr>
            <p:ph type="title"/>
          </p:nvPr>
        </p:nvSpPr>
        <p:spPr>
          <a:xfrm>
            <a:off x="838200" y="240434"/>
            <a:ext cx="10515600" cy="5769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AIM &amp; OBJECTIVES OF THE PROJECT </a:t>
            </a:r>
            <a:br>
              <a:rPr b="1" lang="en-US" sz="24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1" lang="en-US" sz="24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(Problem Statement)</a:t>
            </a:r>
            <a:endParaRPr b="1" sz="2400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 txBox="1"/>
          <p:nvPr>
            <p:ph idx="1" type="body"/>
          </p:nvPr>
        </p:nvSpPr>
        <p:spPr>
          <a:xfrm>
            <a:off x="838199" y="775855"/>
            <a:ext cx="10674927" cy="5444836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62500"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IN SCOPE</a:t>
            </a:r>
            <a:endParaRPr/>
          </a:p>
          <a:p>
            <a:pPr indent="0" lvl="2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5678" lvl="0" marL="45720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mbria"/>
              <a:buChar char="❏"/>
            </a:pPr>
            <a:r>
              <a:rPr b="1" i="0" lang="en-US" sz="295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Digital Complaint Registration</a:t>
            </a:r>
            <a:r>
              <a:rPr b="0" i="0" lang="en-US" sz="295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– Students and staff can report campus maintenance issues online.</a:t>
            </a:r>
            <a:endParaRPr sz="295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56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mbria"/>
              <a:buChar char="❏"/>
            </a:pPr>
            <a:r>
              <a:rPr b="1" i="0" lang="en-US" sz="295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Geotagged Issue Reporting</a:t>
            </a:r>
            <a:r>
              <a:rPr b="0" i="0" lang="en-US" sz="295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– Capture complaints using predefined Building → Floor → Room locations.</a:t>
            </a:r>
            <a:endParaRPr sz="295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56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mbria"/>
              <a:buChar char="❏"/>
            </a:pPr>
            <a:r>
              <a:rPr b="1" i="0" lang="en-US" sz="295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Automated Technician Dispatch</a:t>
            </a:r>
            <a:r>
              <a:rPr b="0" i="0" lang="en-US" sz="295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– Assign technicians based on specialization, availability and workload.</a:t>
            </a:r>
            <a:endParaRPr sz="295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56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mbria"/>
              <a:buChar char="❏"/>
            </a:pPr>
            <a:r>
              <a:rPr b="1" i="0" lang="en-US" sz="295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Complaint Tracking</a:t>
            </a:r>
            <a:r>
              <a:rPr b="0" i="0" lang="en-US" sz="295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– Track complaints through OPEN → ASSIGNED → IN_PROGRESS → RESOLVED → CLOSED.</a:t>
            </a:r>
            <a:endParaRPr sz="295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56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mbria"/>
              <a:buChar char="❏"/>
            </a:pPr>
            <a:r>
              <a:rPr b="1" i="0" lang="en-US" sz="295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SLA Monitoring</a:t>
            </a:r>
            <a:r>
              <a:rPr b="0" i="0" lang="en-US" sz="295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– Monitor priority-based resolution deadlines and identify overdue complaints.</a:t>
            </a:r>
            <a:endParaRPr sz="295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56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mbria"/>
              <a:buChar char="❏"/>
            </a:pPr>
            <a:r>
              <a:rPr b="1" i="0" lang="en-US" sz="295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Email Notifications</a:t>
            </a:r>
            <a:r>
              <a:rPr b="0" i="0" lang="en-US" sz="295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– Notify users and administrators about important complaint updates.</a:t>
            </a:r>
            <a:endParaRPr sz="295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56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mbria"/>
              <a:buChar char="❏"/>
            </a:pPr>
            <a:r>
              <a:rPr b="1" i="0" lang="en-US" sz="295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Admin Monitoring</a:t>
            </a:r>
            <a:r>
              <a:rPr b="0" i="0" lang="en-US" sz="295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– Provide a centralized dashboard for complaints, technicians, workload and SLA status.</a:t>
            </a:r>
            <a:endParaRPr sz="295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56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mbria"/>
              <a:buChar char="❏"/>
            </a:pPr>
            <a:r>
              <a:rPr b="1" i="0" lang="en-US" sz="295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Complaint History</a:t>
            </a:r>
            <a:r>
              <a:rPr b="0" i="0" lang="en-US" sz="295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– Maintain a complete record of status changes, remarks and resolution details.</a:t>
            </a:r>
            <a:endParaRPr b="0" i="0" sz="295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4" name="Google Shape;124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>
                <a:solidFill>
                  <a:schemeClr val="dk1"/>
                </a:solidFill>
              </a:rPr>
              <a:t>SECOND</a:t>
            </a:r>
            <a:r>
              <a:rPr lang="en-US" sz="1800">
                <a:solidFill>
                  <a:schemeClr val="dk1"/>
                </a:solidFill>
              </a:rPr>
              <a:t> REVIEW PRESENTATION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25" name="Google Shape;125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26" name="Google Shape;126;p17"/>
          <p:cNvSpPr txBox="1"/>
          <p:nvPr>
            <p:ph type="title"/>
          </p:nvPr>
        </p:nvSpPr>
        <p:spPr>
          <a:xfrm>
            <a:off x="838200" y="240434"/>
            <a:ext cx="10515600" cy="438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SCOPE OF THE PROJECT</a:t>
            </a:r>
            <a:endParaRPr b="1" sz="2400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/>
          <p:nvPr>
            <p:ph idx="1" type="body"/>
          </p:nvPr>
        </p:nvSpPr>
        <p:spPr>
          <a:xfrm>
            <a:off x="838199" y="775855"/>
            <a:ext cx="10674927" cy="5444836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TECHNICAL FEASIBILITY 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•  B</a:t>
            </a:r>
            <a:r>
              <a:rPr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uilt using mature, well-documented and open-source technologies — Java, Spring Boot, React and PostgreSQL — aligned with the team's existing technical skills.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ECONOMIC FEASIBILITY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•  </a:t>
            </a:r>
            <a:r>
              <a:rPr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Requires no software licensing cost, as the complete technology stack is open-source; local development and storage minimize infrastructure expenses.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OPERATIONAL FEASIBILITY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•  </a:t>
            </a:r>
            <a:r>
              <a:rPr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Provides simple role-based workflows for students, staff, technicians and administrators, making the system practical to operate and maintain within the campus environment.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SCHEDULE FEASIBILITY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•  </a:t>
            </a:r>
            <a:r>
              <a:rPr lang="en-US" sz="2000"/>
              <a:t>The project is structured into clearly defined weekly milestones covering design, development, integration and testing, making the complete system achievable within the </a:t>
            </a:r>
            <a:r>
              <a:rPr b="1" lang="en-US" sz="2000"/>
              <a:t>10-week academic timeline</a:t>
            </a:r>
            <a:r>
              <a:rPr lang="en-US" sz="2000"/>
              <a:t>. </a:t>
            </a:r>
            <a:endParaRPr sz="2000"/>
          </a:p>
        </p:txBody>
      </p:sp>
      <p:sp>
        <p:nvSpPr>
          <p:cNvPr id="132" name="Google Shape;13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SECOND REVIEW PRESENTATION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800"/>
          </a:p>
        </p:txBody>
      </p:sp>
      <p:sp>
        <p:nvSpPr>
          <p:cNvPr id="133" name="Google Shape;13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4" name="Google Shape;134;p18"/>
          <p:cNvSpPr txBox="1"/>
          <p:nvPr>
            <p:ph type="title"/>
          </p:nvPr>
        </p:nvSpPr>
        <p:spPr>
          <a:xfrm>
            <a:off x="838200" y="240434"/>
            <a:ext cx="10515600" cy="438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FEASIBILITY ANALYSIS </a:t>
            </a:r>
            <a:endParaRPr b="1" sz="2400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SECOND REVIEW PRESENTATION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800"/>
          </a:p>
        </p:txBody>
      </p:sp>
      <p:sp>
        <p:nvSpPr>
          <p:cNvPr id="140" name="Google Shape;14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1" name="Google Shape;14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4087" y="355025"/>
            <a:ext cx="9743823" cy="5823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SECOND REVIEW PRESENTATION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800"/>
          </a:p>
        </p:txBody>
      </p:sp>
      <p:sp>
        <p:nvSpPr>
          <p:cNvPr id="147" name="Google Shape;147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8" name="Google Shape;148;p20"/>
          <p:cNvSpPr txBox="1"/>
          <p:nvPr>
            <p:ph type="title"/>
          </p:nvPr>
        </p:nvSpPr>
        <p:spPr>
          <a:xfrm>
            <a:off x="838200" y="240434"/>
            <a:ext cx="10515600" cy="438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PROPOSED METHODOLOGY ( Gantt Chart) </a:t>
            </a:r>
            <a:endParaRPr b="1" sz="2400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9" name="Google Shape;149;p20"/>
          <p:cNvSpPr/>
          <p:nvPr/>
        </p:nvSpPr>
        <p:spPr>
          <a:xfrm>
            <a:off x="457200" y="1234440"/>
            <a:ext cx="3017520" cy="365760"/>
          </a:xfrm>
          <a:prstGeom prst="rect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36575" spcFirstLastPara="1" rIns="3657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Project Phase</a:t>
            </a:r>
            <a:endParaRPr/>
          </a:p>
        </p:txBody>
      </p:sp>
      <p:sp>
        <p:nvSpPr>
          <p:cNvPr id="150" name="Google Shape;150;p20"/>
          <p:cNvSpPr/>
          <p:nvPr/>
        </p:nvSpPr>
        <p:spPr>
          <a:xfrm>
            <a:off x="3474720" y="1234440"/>
            <a:ext cx="777240" cy="365760"/>
          </a:xfrm>
          <a:prstGeom prst="rect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36575" spcFirstLastPara="1" rIns="3657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W1</a:t>
            </a:r>
            <a:endParaRPr/>
          </a:p>
        </p:txBody>
      </p:sp>
      <p:sp>
        <p:nvSpPr>
          <p:cNvPr id="151" name="Google Shape;151;p20"/>
          <p:cNvSpPr/>
          <p:nvPr/>
        </p:nvSpPr>
        <p:spPr>
          <a:xfrm>
            <a:off x="4251959" y="1234440"/>
            <a:ext cx="777240" cy="365760"/>
          </a:xfrm>
          <a:prstGeom prst="rect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36575" spcFirstLastPara="1" rIns="3657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W2</a:t>
            </a:r>
            <a:endParaRPr/>
          </a:p>
        </p:txBody>
      </p:sp>
      <p:sp>
        <p:nvSpPr>
          <p:cNvPr id="152" name="Google Shape;152;p20"/>
          <p:cNvSpPr/>
          <p:nvPr/>
        </p:nvSpPr>
        <p:spPr>
          <a:xfrm>
            <a:off x="5029200" y="1234440"/>
            <a:ext cx="777240" cy="365760"/>
          </a:xfrm>
          <a:prstGeom prst="rect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36575" spcFirstLastPara="1" rIns="3657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W3</a:t>
            </a:r>
            <a:endParaRPr/>
          </a:p>
        </p:txBody>
      </p:sp>
      <p:sp>
        <p:nvSpPr>
          <p:cNvPr id="153" name="Google Shape;153;p20"/>
          <p:cNvSpPr/>
          <p:nvPr/>
        </p:nvSpPr>
        <p:spPr>
          <a:xfrm>
            <a:off x="5806440" y="1234440"/>
            <a:ext cx="777240" cy="365760"/>
          </a:xfrm>
          <a:prstGeom prst="rect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36575" spcFirstLastPara="1" rIns="3657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W4</a:t>
            </a:r>
            <a:endParaRPr/>
          </a:p>
        </p:txBody>
      </p:sp>
      <p:sp>
        <p:nvSpPr>
          <p:cNvPr id="154" name="Google Shape;154;p20"/>
          <p:cNvSpPr/>
          <p:nvPr/>
        </p:nvSpPr>
        <p:spPr>
          <a:xfrm>
            <a:off x="6583679" y="1234440"/>
            <a:ext cx="777240" cy="365760"/>
          </a:xfrm>
          <a:prstGeom prst="rect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36575" spcFirstLastPara="1" rIns="3657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W5</a:t>
            </a:r>
            <a:endParaRPr/>
          </a:p>
        </p:txBody>
      </p:sp>
      <p:sp>
        <p:nvSpPr>
          <p:cNvPr id="155" name="Google Shape;155;p20"/>
          <p:cNvSpPr/>
          <p:nvPr/>
        </p:nvSpPr>
        <p:spPr>
          <a:xfrm>
            <a:off x="7360920" y="1234440"/>
            <a:ext cx="777240" cy="365760"/>
          </a:xfrm>
          <a:prstGeom prst="rect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36575" spcFirstLastPara="1" rIns="3657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W6</a:t>
            </a:r>
            <a:endParaRPr/>
          </a:p>
        </p:txBody>
      </p:sp>
      <p:sp>
        <p:nvSpPr>
          <p:cNvPr id="156" name="Google Shape;156;p20"/>
          <p:cNvSpPr/>
          <p:nvPr/>
        </p:nvSpPr>
        <p:spPr>
          <a:xfrm>
            <a:off x="8138159" y="1234440"/>
            <a:ext cx="777240" cy="365760"/>
          </a:xfrm>
          <a:prstGeom prst="rect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36575" spcFirstLastPara="1" rIns="3657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W7</a:t>
            </a:r>
            <a:endParaRPr/>
          </a:p>
        </p:txBody>
      </p:sp>
      <p:sp>
        <p:nvSpPr>
          <p:cNvPr id="157" name="Google Shape;157;p20"/>
          <p:cNvSpPr/>
          <p:nvPr/>
        </p:nvSpPr>
        <p:spPr>
          <a:xfrm>
            <a:off x="8915400" y="1234440"/>
            <a:ext cx="777240" cy="365760"/>
          </a:xfrm>
          <a:prstGeom prst="rect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36575" spcFirstLastPara="1" rIns="3657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W8</a:t>
            </a:r>
            <a:endParaRPr/>
          </a:p>
        </p:txBody>
      </p:sp>
      <p:sp>
        <p:nvSpPr>
          <p:cNvPr id="158" name="Google Shape;158;p20"/>
          <p:cNvSpPr/>
          <p:nvPr/>
        </p:nvSpPr>
        <p:spPr>
          <a:xfrm>
            <a:off x="9692640" y="1234440"/>
            <a:ext cx="777240" cy="365760"/>
          </a:xfrm>
          <a:prstGeom prst="rect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36575" spcFirstLastPara="1" rIns="3657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W9</a:t>
            </a:r>
            <a:endParaRPr/>
          </a:p>
        </p:txBody>
      </p:sp>
      <p:sp>
        <p:nvSpPr>
          <p:cNvPr id="159" name="Google Shape;159;p20"/>
          <p:cNvSpPr/>
          <p:nvPr/>
        </p:nvSpPr>
        <p:spPr>
          <a:xfrm>
            <a:off x="10469880" y="1234440"/>
            <a:ext cx="777240" cy="365760"/>
          </a:xfrm>
          <a:prstGeom prst="rect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36575" spcFirstLastPara="1" rIns="3657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W10</a:t>
            </a:r>
            <a:endParaRPr/>
          </a:p>
        </p:txBody>
      </p:sp>
      <p:sp>
        <p:nvSpPr>
          <p:cNvPr id="160" name="Google Shape;160;p20"/>
          <p:cNvSpPr/>
          <p:nvPr/>
        </p:nvSpPr>
        <p:spPr>
          <a:xfrm>
            <a:off x="457200" y="1600200"/>
            <a:ext cx="3017520" cy="45720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36575" spcFirstLastPara="1" rIns="3657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Setup &amp; Environment</a:t>
            </a:r>
            <a:endParaRPr/>
          </a:p>
        </p:txBody>
      </p:sp>
      <p:sp>
        <p:nvSpPr>
          <p:cNvPr id="161" name="Google Shape;161;p20"/>
          <p:cNvSpPr/>
          <p:nvPr/>
        </p:nvSpPr>
        <p:spPr>
          <a:xfrm>
            <a:off x="3474720" y="1600200"/>
            <a:ext cx="777240" cy="457200"/>
          </a:xfrm>
          <a:prstGeom prst="rect">
            <a:avLst/>
          </a:prstGeom>
          <a:solidFill>
            <a:srgbClr val="3F7A55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4251959" y="16002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5029200" y="16002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5806440" y="16002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6583679" y="16002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7360920" y="16002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8138159" y="16002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8915400" y="16002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9692640" y="16002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10469880" y="16002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457200" y="2057400"/>
            <a:ext cx="301752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36575" spcFirstLastPara="1" rIns="3657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Database Design &amp; Entities</a:t>
            </a:r>
            <a:endParaRPr/>
          </a:p>
        </p:txBody>
      </p:sp>
      <p:sp>
        <p:nvSpPr>
          <p:cNvPr id="172" name="Google Shape;172;p20"/>
          <p:cNvSpPr/>
          <p:nvPr/>
        </p:nvSpPr>
        <p:spPr>
          <a:xfrm>
            <a:off x="3474720" y="2057400"/>
            <a:ext cx="777240" cy="457200"/>
          </a:xfrm>
          <a:prstGeom prst="rect">
            <a:avLst/>
          </a:prstGeom>
          <a:solidFill>
            <a:srgbClr val="3F7A55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4251959" y="2057400"/>
            <a:ext cx="777240" cy="457200"/>
          </a:xfrm>
          <a:prstGeom prst="rect">
            <a:avLst/>
          </a:prstGeom>
          <a:solidFill>
            <a:srgbClr val="3F7A55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5029200" y="20574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5806440" y="20574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6583679" y="20574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7360920" y="20574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8138159" y="20574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8915400" y="20574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9692640" y="20574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10469880" y="20574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457200" y="2514600"/>
            <a:ext cx="3017520" cy="45720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36575" spcFirstLastPara="1" rIns="3657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Authentication &amp; Authorization</a:t>
            </a:r>
            <a:endParaRPr/>
          </a:p>
        </p:txBody>
      </p:sp>
      <p:sp>
        <p:nvSpPr>
          <p:cNvPr id="183" name="Google Shape;183;p20"/>
          <p:cNvSpPr/>
          <p:nvPr/>
        </p:nvSpPr>
        <p:spPr>
          <a:xfrm>
            <a:off x="3474720" y="25146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4251959" y="2514600"/>
            <a:ext cx="777240" cy="457200"/>
          </a:xfrm>
          <a:prstGeom prst="rect">
            <a:avLst/>
          </a:prstGeom>
          <a:solidFill>
            <a:srgbClr val="3F7A55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5029200" y="2514600"/>
            <a:ext cx="777240" cy="457200"/>
          </a:xfrm>
          <a:prstGeom prst="rect">
            <a:avLst/>
          </a:prstGeom>
          <a:solidFill>
            <a:srgbClr val="3F7A55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5806440" y="25146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6583679" y="25146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7360920" y="25146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8138159" y="25146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8915400" y="25146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9692640" y="25146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10469880" y="25146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457200" y="2971800"/>
            <a:ext cx="301752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36575" spcFirstLastPara="1" rIns="3657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Complaint Management Core</a:t>
            </a:r>
            <a:endParaRPr/>
          </a:p>
        </p:txBody>
      </p:sp>
      <p:sp>
        <p:nvSpPr>
          <p:cNvPr id="194" name="Google Shape;194;p20"/>
          <p:cNvSpPr/>
          <p:nvPr/>
        </p:nvSpPr>
        <p:spPr>
          <a:xfrm>
            <a:off x="3474720" y="29718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4251959" y="29718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5029200" y="2971800"/>
            <a:ext cx="777240" cy="457200"/>
          </a:xfrm>
          <a:prstGeom prst="rect">
            <a:avLst/>
          </a:prstGeom>
          <a:solidFill>
            <a:srgbClr val="3F7A55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5806440" y="2971800"/>
            <a:ext cx="777240" cy="457200"/>
          </a:xfrm>
          <a:prstGeom prst="rect">
            <a:avLst/>
          </a:prstGeom>
          <a:solidFill>
            <a:srgbClr val="3F7A55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6583679" y="2971800"/>
            <a:ext cx="777240" cy="457200"/>
          </a:xfrm>
          <a:prstGeom prst="rect">
            <a:avLst/>
          </a:prstGeom>
          <a:solidFill>
            <a:srgbClr val="3F7A55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7360920" y="29718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8138159" y="29718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8915400" y="29718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9692640" y="29718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10469880" y="29718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457200" y="3429000"/>
            <a:ext cx="3017520" cy="45720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36575" spcFirstLastPara="1" rIns="3657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Technician Assignment Engine</a:t>
            </a:r>
            <a:endParaRPr/>
          </a:p>
        </p:txBody>
      </p:sp>
      <p:sp>
        <p:nvSpPr>
          <p:cNvPr id="205" name="Google Shape;205;p20"/>
          <p:cNvSpPr/>
          <p:nvPr/>
        </p:nvSpPr>
        <p:spPr>
          <a:xfrm>
            <a:off x="3474720" y="34290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4251959" y="34290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5029200" y="34290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5806440" y="34290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6583679" y="3429000"/>
            <a:ext cx="777240" cy="457200"/>
          </a:xfrm>
          <a:prstGeom prst="rect">
            <a:avLst/>
          </a:prstGeom>
          <a:solidFill>
            <a:srgbClr val="3F7A55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7360920" y="3429000"/>
            <a:ext cx="777240" cy="457200"/>
          </a:xfrm>
          <a:prstGeom prst="rect">
            <a:avLst/>
          </a:prstGeom>
          <a:solidFill>
            <a:srgbClr val="3F7A55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8138159" y="34290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8915400" y="34290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9692640" y="34290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10469880" y="34290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457200" y="3886200"/>
            <a:ext cx="301752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36575" spcFirstLastPara="1" rIns="3657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Admin Dashboard</a:t>
            </a:r>
            <a:endParaRPr/>
          </a:p>
        </p:txBody>
      </p:sp>
      <p:sp>
        <p:nvSpPr>
          <p:cNvPr id="216" name="Google Shape;216;p20"/>
          <p:cNvSpPr/>
          <p:nvPr/>
        </p:nvSpPr>
        <p:spPr>
          <a:xfrm>
            <a:off x="3474720" y="38862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4251959" y="38862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5029200" y="38862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5806440" y="38862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6583679" y="38862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7360920" y="3886200"/>
            <a:ext cx="777240" cy="457200"/>
          </a:xfrm>
          <a:prstGeom prst="rect">
            <a:avLst/>
          </a:prstGeom>
          <a:solidFill>
            <a:srgbClr val="3F7A55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8138159" y="3886200"/>
            <a:ext cx="777240" cy="457200"/>
          </a:xfrm>
          <a:prstGeom prst="rect">
            <a:avLst/>
          </a:prstGeom>
          <a:solidFill>
            <a:srgbClr val="3F7A55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8915400" y="38862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9692640" y="38862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10469880" y="38862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457200" y="4343400"/>
            <a:ext cx="3017520" cy="45720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36575" spcFirstLastPara="1" rIns="3657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Email Notifications</a:t>
            </a:r>
            <a:endParaRPr/>
          </a:p>
        </p:txBody>
      </p:sp>
      <p:sp>
        <p:nvSpPr>
          <p:cNvPr id="227" name="Google Shape;227;p20"/>
          <p:cNvSpPr/>
          <p:nvPr/>
        </p:nvSpPr>
        <p:spPr>
          <a:xfrm>
            <a:off x="3474720" y="43434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4251959" y="43434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5029200" y="43434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5806440" y="43434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6583679" y="43434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7360920" y="43434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8138159" y="4343400"/>
            <a:ext cx="777240" cy="457200"/>
          </a:xfrm>
          <a:prstGeom prst="rect">
            <a:avLst/>
          </a:prstGeom>
          <a:solidFill>
            <a:srgbClr val="3F7A55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8915400" y="4343400"/>
            <a:ext cx="777240" cy="457200"/>
          </a:xfrm>
          <a:prstGeom prst="rect">
            <a:avLst/>
          </a:prstGeom>
          <a:solidFill>
            <a:srgbClr val="3F7A55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9692640" y="43434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10469880" y="43434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457200" y="4800600"/>
            <a:ext cx="301752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36575" spcFirstLastPara="1" rIns="3657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Testing, Deploy &amp; Report</a:t>
            </a:r>
            <a:endParaRPr/>
          </a:p>
        </p:txBody>
      </p:sp>
      <p:sp>
        <p:nvSpPr>
          <p:cNvPr id="238" name="Google Shape;238;p20"/>
          <p:cNvSpPr/>
          <p:nvPr/>
        </p:nvSpPr>
        <p:spPr>
          <a:xfrm>
            <a:off x="3474720" y="48006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4251959" y="48006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0"/>
          <p:cNvSpPr/>
          <p:nvPr/>
        </p:nvSpPr>
        <p:spPr>
          <a:xfrm>
            <a:off x="5029200" y="48006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5806440" y="48006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6583679" y="48006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7360920" y="48006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0"/>
          <p:cNvSpPr/>
          <p:nvPr/>
        </p:nvSpPr>
        <p:spPr>
          <a:xfrm>
            <a:off x="8138159" y="48006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8915400" y="4800600"/>
            <a:ext cx="777240" cy="457200"/>
          </a:xfrm>
          <a:prstGeom prst="rect">
            <a:avLst/>
          </a:prstGeom>
          <a:solidFill>
            <a:srgbClr val="3F7A55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9692640" y="4800600"/>
            <a:ext cx="777240" cy="457200"/>
          </a:xfrm>
          <a:prstGeom prst="rect">
            <a:avLst/>
          </a:prstGeom>
          <a:solidFill>
            <a:srgbClr val="3F7A55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0"/>
          <p:cNvSpPr/>
          <p:nvPr/>
        </p:nvSpPr>
        <p:spPr>
          <a:xfrm>
            <a:off x="10469880" y="4800600"/>
            <a:ext cx="777240" cy="457200"/>
          </a:xfrm>
          <a:prstGeom prst="rect">
            <a:avLst/>
          </a:prstGeom>
          <a:solidFill>
            <a:srgbClr val="3F7A55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1"/>
          <p:cNvSpPr txBox="1"/>
          <p:nvPr>
            <p:ph idx="1" type="body"/>
          </p:nvPr>
        </p:nvSpPr>
        <p:spPr>
          <a:xfrm>
            <a:off x="838199" y="795193"/>
            <a:ext cx="10674900" cy="5444700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Software Components </a:t>
            </a:r>
            <a:endParaRPr/>
          </a:p>
          <a:p>
            <a:pPr indent="-355600" lvl="0" marL="9144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Cambria"/>
              <a:buChar char="❖"/>
            </a:pPr>
            <a:r>
              <a:rPr b="1" lang="en-US" sz="2000">
                <a:latin typeface="Cambria"/>
                <a:ea typeface="Cambria"/>
                <a:cs typeface="Cambria"/>
                <a:sym typeface="Cambria"/>
              </a:rPr>
              <a:t>React + Vite – Frontend development</a:t>
            </a:r>
            <a:endParaRPr b="1" sz="2000"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mbria"/>
              <a:buChar char="❖"/>
            </a:pPr>
            <a:r>
              <a:rPr b="1" lang="en-US" sz="2000">
                <a:latin typeface="Cambria"/>
                <a:ea typeface="Cambria"/>
                <a:cs typeface="Cambria"/>
                <a:sym typeface="Cambria"/>
              </a:rPr>
              <a:t>Tailwind CSS – Responsive UI design</a:t>
            </a:r>
            <a:endParaRPr b="1" sz="2000"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mbria"/>
              <a:buChar char="❖"/>
            </a:pPr>
            <a:r>
              <a:rPr b="1" lang="en-US" sz="2000">
                <a:latin typeface="Cambria"/>
                <a:ea typeface="Cambria"/>
                <a:cs typeface="Cambria"/>
                <a:sym typeface="Cambria"/>
              </a:rPr>
              <a:t>Java + Spring Boot – Backend and REST APIs</a:t>
            </a:r>
            <a:endParaRPr b="1" sz="2000"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mbria"/>
              <a:buChar char="❖"/>
            </a:pPr>
            <a:r>
              <a:rPr b="1" lang="en-US" sz="2000">
                <a:latin typeface="Cambria"/>
                <a:ea typeface="Cambria"/>
                <a:cs typeface="Cambria"/>
                <a:sym typeface="Cambria"/>
              </a:rPr>
              <a:t>Spring Security + JWT – Authentication and role-based access</a:t>
            </a:r>
            <a:endParaRPr b="1" sz="2000"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mbria"/>
              <a:buChar char="❖"/>
            </a:pPr>
            <a:r>
              <a:rPr b="1" lang="en-US" sz="2000">
                <a:latin typeface="Cambria"/>
                <a:ea typeface="Cambria"/>
                <a:cs typeface="Cambria"/>
                <a:sym typeface="Cambria"/>
              </a:rPr>
              <a:t>PostgreSQL – Database management</a:t>
            </a:r>
            <a:endParaRPr b="1" sz="2000"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mbria"/>
              <a:buChar char="❖"/>
            </a:pPr>
            <a:r>
              <a:rPr b="1" lang="en-US" sz="2000">
                <a:latin typeface="Cambria"/>
                <a:ea typeface="Cambria"/>
                <a:cs typeface="Cambria"/>
                <a:sym typeface="Cambria"/>
              </a:rPr>
              <a:t>Axios – Frontend–backend communication</a:t>
            </a:r>
            <a:endParaRPr b="1" sz="20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Core Modules </a:t>
            </a:r>
            <a:endParaRPr b="1" sz="2400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Cambria"/>
              <a:buChar char="❖"/>
            </a:pPr>
            <a:r>
              <a:rPr b="1" lang="en-US" sz="2000">
                <a:latin typeface="Cambria"/>
                <a:ea typeface="Cambria"/>
                <a:cs typeface="Cambria"/>
                <a:sym typeface="Cambria"/>
              </a:rPr>
              <a:t>User Authentication &amp; Authorization</a:t>
            </a:r>
            <a:endParaRPr b="1" sz="2000"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mbria"/>
              <a:buChar char="❖"/>
            </a:pPr>
            <a:r>
              <a:rPr b="1" lang="en-US" sz="2000">
                <a:latin typeface="Cambria"/>
                <a:ea typeface="Cambria"/>
                <a:cs typeface="Cambria"/>
                <a:sym typeface="Cambria"/>
              </a:rPr>
              <a:t>Complaint Management</a:t>
            </a:r>
            <a:endParaRPr b="1" sz="2000"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mbria"/>
              <a:buChar char="❖"/>
            </a:pPr>
            <a:r>
              <a:rPr b="1" lang="en-US" sz="2000">
                <a:latin typeface="Cambria"/>
                <a:ea typeface="Cambria"/>
                <a:cs typeface="Cambria"/>
                <a:sym typeface="Cambria"/>
              </a:rPr>
              <a:t>Campus Location Management</a:t>
            </a:r>
            <a:endParaRPr b="1" sz="2000"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mbria"/>
              <a:buChar char="❖"/>
            </a:pPr>
            <a:r>
              <a:rPr b="1" lang="en-US" sz="2000">
                <a:latin typeface="Cambria"/>
                <a:ea typeface="Cambria"/>
                <a:cs typeface="Cambria"/>
                <a:sym typeface="Cambria"/>
              </a:rPr>
              <a:t>Smart Technician Dispatch</a:t>
            </a:r>
            <a:endParaRPr b="1" sz="2000"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mbria"/>
              <a:buChar char="❖"/>
            </a:pPr>
            <a:r>
              <a:rPr b="1" lang="en-US" sz="2000">
                <a:latin typeface="Cambria"/>
                <a:ea typeface="Cambria"/>
                <a:cs typeface="Cambria"/>
                <a:sym typeface="Cambria"/>
              </a:rPr>
              <a:t>SLA Monitoring &amp; Escalation</a:t>
            </a:r>
            <a:endParaRPr b="1" sz="2000"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mbria"/>
              <a:buChar char="❖"/>
            </a:pPr>
            <a:r>
              <a:rPr b="1" lang="en-US" sz="2000">
                <a:latin typeface="Cambria"/>
                <a:ea typeface="Cambria"/>
                <a:cs typeface="Cambria"/>
                <a:sym typeface="Cambria"/>
              </a:rPr>
              <a:t>Notification Management</a:t>
            </a:r>
            <a:endParaRPr b="1" sz="20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None/>
            </a:pPr>
            <a:r>
              <a:t/>
            </a:r>
            <a:endParaRPr b="1" sz="2400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53" name="Google Shape;25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SECOND REVIEW PRESENTATION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800"/>
          </a:p>
        </p:txBody>
      </p:sp>
      <p:sp>
        <p:nvSpPr>
          <p:cNvPr id="254" name="Google Shape;25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5" name="Google Shape;255;p21"/>
          <p:cNvSpPr txBox="1"/>
          <p:nvPr>
            <p:ph type="title"/>
          </p:nvPr>
        </p:nvSpPr>
        <p:spPr>
          <a:xfrm>
            <a:off x="838200" y="240434"/>
            <a:ext cx="10515600" cy="438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CHOICE  OF  COMPONENTS  /  MODULE  USED FOR  PROJECT DEVELOPMENT </a:t>
            </a:r>
            <a:endParaRPr b="1" sz="2400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2"/>
          <p:cNvSpPr txBox="1"/>
          <p:nvPr>
            <p:ph idx="1" type="body"/>
          </p:nvPr>
        </p:nvSpPr>
        <p:spPr>
          <a:xfrm>
            <a:off x="838199" y="775855"/>
            <a:ext cx="10674927" cy="5444836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THREE-TIER CLIENT-SERVER ARCHITECTURE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•  React frontend communicates with the Spring Boot backend over REST APIs secured with JWT.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800000"/>
                </a:solidFill>
                <a:latin typeface="Cambria"/>
                <a:ea typeface="Cambria"/>
                <a:cs typeface="Cambria"/>
                <a:sym typeface="Cambria"/>
              </a:rPr>
              <a:t>Presentation Layer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•  React single-page app - role-specific dashboards for Student/Staff, Technician and Admin.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800000"/>
                </a:solidFill>
                <a:latin typeface="Cambria"/>
                <a:ea typeface="Cambria"/>
                <a:cs typeface="Cambria"/>
                <a:sym typeface="Cambria"/>
              </a:rPr>
              <a:t>Application Layer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•  Spring Boot - Controller, Service, Repository and Security layers with a rule-based assignment engine.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800000"/>
                </a:solidFill>
                <a:latin typeface="Cambria"/>
                <a:ea typeface="Cambria"/>
                <a:cs typeface="Cambria"/>
                <a:sym typeface="Cambria"/>
              </a:rPr>
              <a:t>Data Layer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•  PostgreSQL relational database (User, Complaint, Location, Technician, Assignment, Attachment, StatusHistory, Notification) plus an SMTP email service.</a:t>
            </a:r>
            <a:endParaRPr/>
          </a:p>
        </p:txBody>
      </p:sp>
      <p:sp>
        <p:nvSpPr>
          <p:cNvPr id="261" name="Google Shape;261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SECOND REVIEW PRESENTATION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800"/>
          </a:p>
        </p:txBody>
      </p:sp>
      <p:sp>
        <p:nvSpPr>
          <p:cNvPr id="262" name="Google Shape;262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3" name="Google Shape;263;p22"/>
          <p:cNvSpPr txBox="1"/>
          <p:nvPr>
            <p:ph type="title"/>
          </p:nvPr>
        </p:nvSpPr>
        <p:spPr>
          <a:xfrm>
            <a:off x="838200" y="240434"/>
            <a:ext cx="10515600" cy="438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DESIGN(S) ( SOFTWARE ARCHITECTURE) </a:t>
            </a:r>
            <a:endParaRPr b="1" sz="2400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3"/>
          <p:cNvSpPr txBox="1"/>
          <p:nvPr>
            <p:ph idx="1" type="body"/>
          </p:nvPr>
        </p:nvSpPr>
        <p:spPr>
          <a:xfrm>
            <a:off x="838199" y="775855"/>
            <a:ext cx="10674927" cy="5444836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None/>
            </a:pPr>
            <a:r>
              <a:rPr b="1" lang="en-US">
                <a:solidFill>
                  <a:srgbClr val="C00000"/>
                </a:solidFill>
              </a:rPr>
              <a:t>Batch Member 1 : ( </a:t>
            </a:r>
            <a:r>
              <a:rPr b="1" lang="en-US">
                <a:solidFill>
                  <a:srgbClr val="C00000"/>
                </a:solidFill>
              </a:rPr>
              <a:t>7376231CD159</a:t>
            </a:r>
            <a:r>
              <a:rPr b="1" lang="en-US">
                <a:solidFill>
                  <a:srgbClr val="C00000"/>
                </a:solidFill>
              </a:rPr>
              <a:t> &amp; THAISEELAN C)</a:t>
            </a:r>
            <a:endParaRPr/>
          </a:p>
          <a:p>
            <a:pPr indent="-355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Project architecture and overall system design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Spring Boot backend and REST API development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PostgreSQL database design and integration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JWT authentication and role-based authorization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Smart technician dispatch logic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SLA monitoring and escalation mechanism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Backend–frontend API integration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SECOND REVIEW PRESENTATION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800"/>
          </a:p>
        </p:txBody>
      </p:sp>
      <p:sp>
        <p:nvSpPr>
          <p:cNvPr id="270" name="Google Shape;27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1" name="Google Shape;271;p23"/>
          <p:cNvSpPr txBox="1"/>
          <p:nvPr>
            <p:ph type="title"/>
          </p:nvPr>
        </p:nvSpPr>
        <p:spPr>
          <a:xfrm>
            <a:off x="838200" y="240434"/>
            <a:ext cx="10515600" cy="438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INDIVIDUAL CONTRIBUTIONS TO THE WORK </a:t>
            </a:r>
            <a:endParaRPr b="1" sz="2400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4"/>
          <p:cNvSpPr txBox="1"/>
          <p:nvPr>
            <p:ph idx="1" type="body"/>
          </p:nvPr>
        </p:nvSpPr>
        <p:spPr>
          <a:xfrm>
            <a:off x="838199" y="775855"/>
            <a:ext cx="10674927" cy="5444836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None/>
            </a:pPr>
            <a:r>
              <a:rPr b="1" lang="en-US">
                <a:solidFill>
                  <a:srgbClr val="C00000"/>
                </a:solidFill>
              </a:rPr>
              <a:t>Batch Member 2 : (7376231CD152 &amp; SUBHASHCHANDRA M )</a:t>
            </a:r>
            <a:endParaRPr/>
          </a:p>
          <a:p>
            <a:pPr indent="-355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 sz="2000"/>
              <a:t>React frontend development and responsive UI design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 sz="2000"/>
              <a:t>Student/Staff complaint submission and tracking interfaces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 sz="2000"/>
              <a:t>Technician task management interface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 sz="2000"/>
              <a:t>Admin dashboard and complaint monitoring UI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 sz="2000"/>
              <a:t>REST API integration using Axios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 sz="2000"/>
              <a:t>Form validation and error/loading state handling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 sz="2000"/>
              <a:t>Frontend testing and integration with the backend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77" name="Google Shape;27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SECOND REVIEW PRESENTATION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800"/>
          </a:p>
        </p:txBody>
      </p:sp>
      <p:sp>
        <p:nvSpPr>
          <p:cNvPr id="278" name="Google Shape;27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9" name="Google Shape;279;p24"/>
          <p:cNvSpPr txBox="1"/>
          <p:nvPr>
            <p:ph type="title"/>
          </p:nvPr>
        </p:nvSpPr>
        <p:spPr>
          <a:xfrm>
            <a:off x="838200" y="240434"/>
            <a:ext cx="10515600" cy="438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INDIVIDUAL CONTRIBUTIONS TO THE WORK </a:t>
            </a:r>
            <a:endParaRPr b="1" sz="2400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5"/>
          <p:cNvSpPr txBox="1"/>
          <p:nvPr>
            <p:ph idx="1" type="body"/>
          </p:nvPr>
        </p:nvSpPr>
        <p:spPr>
          <a:xfrm>
            <a:off x="838199" y="775855"/>
            <a:ext cx="10674927" cy="5444836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None/>
            </a:pPr>
            <a:r>
              <a:rPr b="1" lang="en-US">
                <a:solidFill>
                  <a:srgbClr val="C00000"/>
                </a:solidFill>
              </a:rPr>
              <a:t>Batch Member 3 : (7376231CD111 &amp; DHARANEENDHIRA A V)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1.	API testing and validation using Postman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Database design, management and verification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Validation of complaint lifecycle and SLA workflows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Identification and reporting of functional issues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Project documentation and testing reports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85" name="Google Shape;285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SECOND REVIEW PRESENTATION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800"/>
          </a:p>
        </p:txBody>
      </p:sp>
      <p:sp>
        <p:nvSpPr>
          <p:cNvPr id="286" name="Google Shape;286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7" name="Google Shape;287;p25"/>
          <p:cNvSpPr txBox="1"/>
          <p:nvPr>
            <p:ph type="title"/>
          </p:nvPr>
        </p:nvSpPr>
        <p:spPr>
          <a:xfrm>
            <a:off x="838200" y="240434"/>
            <a:ext cx="10515600" cy="438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INDIVIDUAL CONTRIBUTIONS TO THE WORK </a:t>
            </a:r>
            <a:endParaRPr b="1" sz="2400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6"/>
          <p:cNvSpPr txBox="1"/>
          <p:nvPr>
            <p:ph idx="1" type="body"/>
          </p:nvPr>
        </p:nvSpPr>
        <p:spPr>
          <a:xfrm>
            <a:off x="838200" y="911514"/>
            <a:ext cx="10674927" cy="5444836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ct val="155556"/>
              <a:buNone/>
            </a:pPr>
            <a:r>
              <a:rPr b="1" lang="en-US" sz="1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As per IEEE Format</a:t>
            </a:r>
            <a:endParaRPr sz="1800"/>
          </a:p>
          <a:p>
            <a:pPr indent="-334328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ct val="100000"/>
              <a:buChar char="•"/>
            </a:pPr>
            <a:r>
              <a:rPr lang="en-US" sz="1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[1] K. Aravindhan, K. Periyakaruppan, K. Aswini, S. Vaishnavi, and L. Yamini, “Web Portal for Effective Student Grievance Support System,” in Proc. 2020 6th Int. Conf. Advanced Computing and Communication Systems (ICACCS), Mar. 2020.</a:t>
            </a:r>
            <a:endParaRPr sz="1800"/>
          </a:p>
          <a:p>
            <a:pPr indent="-334328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ct val="100000"/>
              <a:buChar char="•"/>
            </a:pPr>
            <a:r>
              <a:rPr lang="en-US" sz="1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[2] V. Oguntosin, M. Oluwadurotimi, A. Adoghe, A. Abdulkareem, and G. Adeyemi, “Development of a Web-Based Complaint Management Platform for a University Community,” J. Eng. Sci. Technol. Rev., vol. 14, no. 1, pp. 150–159, 2021.</a:t>
            </a:r>
            <a:endParaRPr sz="1800"/>
          </a:p>
          <a:p>
            <a:pPr indent="-334328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ct val="100000"/>
              <a:buChar char="•"/>
            </a:pPr>
            <a:r>
              <a:rPr lang="en-US" sz="1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[3] S. Jha and P. Sonawane, “Smart Student Grievance Redressal System with Foul Language Detection,” in Proc. 2022 8th Int. Conf. Advanced Computing and Communication Systems (ICACCS), 2022, pp. 187–192.</a:t>
            </a:r>
            <a:endParaRPr sz="1800"/>
          </a:p>
          <a:p>
            <a:pPr indent="-334328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ct val="100000"/>
              <a:buChar char="•"/>
            </a:pPr>
            <a:r>
              <a:rPr lang="en-US" sz="1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[4] A. Khalfay, A. Crispin, and K. Crockett, “A Review of Technician and Task Scheduling Problems, Datasets and Solution Approaches,” in Proc. 2017 Intelligent Systems Conf. (IntelliSys), 2017, pp. 288–296.</a:t>
            </a:r>
            <a:endParaRPr sz="1800"/>
          </a:p>
          <a:p>
            <a:pPr indent="-334328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ct val="100000"/>
              <a:buChar char="•"/>
            </a:pPr>
            <a:r>
              <a:rPr lang="en-US" sz="1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[5] S. Mamidi, “Building Secure REST APIs in Spring Boot: Techniques and Tools,” Int. J. Emerging Trends Comput. Sci. Inf. Technol., vol. 7, no. 1, pp. 87–91, 2026.</a:t>
            </a:r>
            <a:endParaRPr sz="1800"/>
          </a:p>
          <a:p>
            <a:pPr indent="-334328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ct val="100000"/>
              <a:buChar char="•"/>
            </a:pPr>
            <a:r>
              <a:rPr lang="en-US" sz="1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[6] A. S. Manek, K. V. Shalini, K. Munot, T. Sri Harsha, B. Monika, and Shivalingayya, “Grievance Redressal System for Educational Institution,” Int. J. Electr. Electron. Comput., Special Issue NCASTEM-2025, pp. 45–49, Feb. 2026.</a:t>
            </a:r>
            <a:endParaRPr sz="1800"/>
          </a:p>
          <a:p>
            <a:pPr indent="-334328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ct val="100000"/>
              <a:buChar char="•"/>
            </a:pPr>
            <a:r>
              <a:rPr lang="en-US" sz="1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[7] A. Krishna, R. Dhanalakshmi, and A. Kannan, “Smart City: Crowd Sourced Geo-Tagged Mobile Application for Civic Issue Reporting,” Procedia Comput. Sci., vol. 152, pp. 80–87, 2020.</a:t>
            </a:r>
            <a:endParaRPr sz="1800"/>
          </a:p>
          <a:p>
            <a:pPr indent="-334328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ct val="100000"/>
              <a:buChar char="•"/>
            </a:pPr>
            <a:r>
              <a:rPr lang="en-US" sz="1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[8] E. O. Boadu and G. K. Armah, “Role-Based Access Control (RBAC) Based in Hospital Management,” Int. Refereed J. Eng. Sci., vol. 3, no. 9, pp. 53–67, 2014.</a:t>
            </a:r>
            <a:endParaRPr sz="1800"/>
          </a:p>
          <a:p>
            <a:pPr indent="0" lvl="0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93" name="Google Shape;293;p26"/>
          <p:cNvSpPr txBox="1"/>
          <p:nvPr>
            <p:ph idx="11" type="ftr"/>
          </p:nvPr>
        </p:nvSpPr>
        <p:spPr>
          <a:xfrm>
            <a:off x="4038600" y="650200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SECOND REVIEW PRESENTATION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800"/>
          </a:p>
        </p:txBody>
      </p:sp>
      <p:sp>
        <p:nvSpPr>
          <p:cNvPr id="294" name="Google Shape;294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5" name="Google Shape;295;p26"/>
          <p:cNvSpPr txBox="1"/>
          <p:nvPr>
            <p:ph type="title"/>
          </p:nvPr>
        </p:nvSpPr>
        <p:spPr>
          <a:xfrm>
            <a:off x="838200" y="240434"/>
            <a:ext cx="10515600" cy="438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REFERENCES</a:t>
            </a:r>
            <a:br>
              <a:rPr b="1" lang="en-US" sz="24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1" lang="en-US" sz="24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( Journal Papers/ Books/ Website References )</a:t>
            </a:r>
            <a:endParaRPr b="1" sz="2400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